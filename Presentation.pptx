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69" r:id="rId1"/>
  </p:sldMasterIdLst>
  <p:sldIdLst>
    <p:sldId id="257" r:id="rId2"/>
    <p:sldId id="256" r:id="rId3"/>
    <p:sldId id="259" r:id="rId4"/>
    <p:sldId id="260" r:id="rId5"/>
    <p:sldId id="261" r:id="rId6"/>
    <p:sldId id="263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a-Latn-NG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a-Latn-NG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a-Latn-NG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a-Latn-NG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a-Latn-NG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a-Latn-NG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a-Latn-NG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a-Latn-NG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0E216-BA48-4F04-AC4F-645AA0DD6AC6}" type="datetimeFigureOut">
              <a:rPr lang="en-US" smtClean="0"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423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0E216-BA48-4F04-AC4F-645AA0DD6AC6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459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0E216-BA48-4F04-AC4F-645AA0DD6AC6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416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0E216-BA48-4F04-AC4F-645AA0DD6AC6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126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0E216-BA48-4F04-AC4F-645AA0DD6AC6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3856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0E216-BA48-4F04-AC4F-645AA0DD6AC6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497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0E216-BA48-4F04-AC4F-645AA0DD6AC6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425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0E216-BA48-4F04-AC4F-645AA0DD6AC6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795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0E216-BA48-4F04-AC4F-645AA0DD6AC6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498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0E216-BA48-4F04-AC4F-645AA0DD6AC6}" type="datetimeFigureOut">
              <a:rPr lang="en-US" smtClean="0"/>
              <a:pPr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8653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0E216-BA48-4F04-AC4F-645AA0DD6AC6}" type="datetimeFigureOut">
              <a:rPr lang="en-US" smtClean="0"/>
              <a:pPr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716965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0E216-BA48-4F04-AC4F-645AA0DD6AC6}" type="datetimeFigureOut">
              <a:rPr lang="en-US" smtClean="0"/>
              <a:pPr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02977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0E216-BA48-4F04-AC4F-645AA0DD6AC6}" type="datetimeFigureOut">
              <a:rPr lang="en-US" smtClean="0"/>
              <a:pPr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405538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0E216-BA48-4F04-AC4F-645AA0DD6AC6}" type="datetimeFigureOut">
              <a:rPr lang="en-US" smtClean="0"/>
              <a:pPr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96249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0E216-BA48-4F04-AC4F-645AA0DD6AC6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5069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0E216-BA48-4F04-AC4F-645AA0DD6AC6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696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a-Latn-NG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a-Latn-NG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a-Latn-NG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a-Latn-NG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a-Latn-NG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a-Latn-NG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a-Latn-NG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a-Latn-NG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F0E216-BA48-4F04-AC4F-645AA0DD6AC6}" type="datetimeFigureOut">
              <a:rPr lang="en-US" smtClean="0"/>
              <a:pPr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5930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70" r:id="rId1"/>
    <p:sldLayoutId id="2147484171" r:id="rId2"/>
    <p:sldLayoutId id="2147484172" r:id="rId3"/>
    <p:sldLayoutId id="2147484173" r:id="rId4"/>
    <p:sldLayoutId id="2147484174" r:id="rId5"/>
    <p:sldLayoutId id="2147484175" r:id="rId6"/>
    <p:sldLayoutId id="2147484176" r:id="rId7"/>
    <p:sldLayoutId id="2147484177" r:id="rId8"/>
    <p:sldLayoutId id="2147484178" r:id="rId9"/>
    <p:sldLayoutId id="2147484179" r:id="rId10"/>
    <p:sldLayoutId id="2147484180" r:id="rId11"/>
    <p:sldLayoutId id="2147484181" r:id="rId12"/>
    <p:sldLayoutId id="2147484182" r:id="rId13"/>
    <p:sldLayoutId id="2147484183" r:id="rId14"/>
    <p:sldLayoutId id="2147484184" r:id="rId15"/>
    <p:sldLayoutId id="214748418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76544-E732-6B41-3639-EE34F145A0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500" y="631371"/>
            <a:ext cx="10026650" cy="5137605"/>
          </a:xfrm>
        </p:spPr>
        <p:txBody>
          <a:bodyPr>
            <a:normAutofit/>
          </a:bodyPr>
          <a:lstStyle/>
          <a:p>
            <a:r>
              <a:rPr lang="en-US" sz="2500" b="1" dirty="0"/>
              <a:t>Project Overview &amp; Objectives</a:t>
            </a:r>
          </a:p>
          <a:p>
            <a:r>
              <a:rPr lang="en-US" sz="2500" b="1" dirty="0">
                <a:solidFill>
                  <a:schemeClr val="tx1"/>
                </a:solidFill>
              </a:rPr>
              <a:t>Presenter:</a:t>
            </a:r>
            <a:r>
              <a:rPr lang="en-US" sz="2500" dirty="0">
                <a:solidFill>
                  <a:schemeClr val="tx1"/>
                </a:solidFill>
              </a:rPr>
              <a:t> Shamsuddeen Yusuf</a:t>
            </a:r>
          </a:p>
          <a:p>
            <a:r>
              <a:rPr lang="en-US" sz="2500" b="1" dirty="0">
                <a:solidFill>
                  <a:schemeClr val="tx1"/>
                </a:solidFill>
              </a:rPr>
              <a:t>Goal:</a:t>
            </a:r>
            <a:r>
              <a:rPr lang="en-US" sz="2500" dirty="0">
                <a:solidFill>
                  <a:schemeClr val="tx1"/>
                </a:solidFill>
              </a:rPr>
              <a:t> To </a:t>
            </a:r>
            <a:r>
              <a:rPr lang="ha-Latn-NG" sz="2500" dirty="0">
                <a:solidFill>
                  <a:schemeClr val="tx1"/>
                </a:solidFill>
              </a:rPr>
              <a:t>predict</a:t>
            </a:r>
            <a:r>
              <a:rPr lang="en-US" sz="2500" dirty="0">
                <a:solidFill>
                  <a:schemeClr val="tx1"/>
                </a:solidFill>
              </a:rPr>
              <a:t> </a:t>
            </a:r>
            <a:r>
              <a:rPr lang="ha-Latn-NG" sz="2500" dirty="0">
                <a:solidFill>
                  <a:schemeClr val="tx1"/>
                </a:solidFill>
              </a:rPr>
              <a:t>which</a:t>
            </a:r>
            <a:r>
              <a:rPr lang="en-US" sz="2500" dirty="0">
                <a:solidFill>
                  <a:schemeClr val="tx1"/>
                </a:solidFill>
              </a:rPr>
              <a:t> </a:t>
            </a:r>
            <a:r>
              <a:rPr lang="ha-Latn-NG" sz="2500" dirty="0">
                <a:solidFill>
                  <a:schemeClr val="tx1"/>
                </a:solidFill>
              </a:rPr>
              <a:t>recipes</a:t>
            </a:r>
            <a:r>
              <a:rPr lang="en-US" sz="2500" dirty="0">
                <a:solidFill>
                  <a:schemeClr val="tx1"/>
                </a:solidFill>
              </a:rPr>
              <a:t> </a:t>
            </a:r>
            <a:r>
              <a:rPr lang="ha-Latn-NG" sz="2500" dirty="0">
                <a:solidFill>
                  <a:schemeClr val="tx1"/>
                </a:solidFill>
              </a:rPr>
              <a:t>will</a:t>
            </a:r>
            <a:r>
              <a:rPr lang="en-US" sz="2500" dirty="0">
                <a:solidFill>
                  <a:schemeClr val="tx1"/>
                </a:solidFill>
              </a:rPr>
              <a:t> </a:t>
            </a:r>
            <a:r>
              <a:rPr lang="ha-Latn-NG" sz="2500" dirty="0">
                <a:solidFill>
                  <a:schemeClr val="tx1"/>
                </a:solidFill>
              </a:rPr>
              <a:t>bepopular</a:t>
            </a:r>
            <a:r>
              <a:rPr lang="en-US" sz="2500" dirty="0">
                <a:solidFill>
                  <a:schemeClr val="tx1"/>
                </a:solidFill>
              </a:rPr>
              <a:t> </a:t>
            </a:r>
            <a:r>
              <a:rPr lang="ha-Latn-NG" sz="2500" dirty="0">
                <a:solidFill>
                  <a:schemeClr val="tx1"/>
                </a:solidFill>
              </a:rPr>
              <a:t>80%</a:t>
            </a:r>
            <a:r>
              <a:rPr lang="en-US" sz="2500" dirty="0">
                <a:solidFill>
                  <a:schemeClr val="tx1"/>
                </a:solidFill>
              </a:rPr>
              <a:t> </a:t>
            </a:r>
            <a:r>
              <a:rPr lang="ha-Latn-NG" sz="2500" dirty="0">
                <a:solidFill>
                  <a:schemeClr val="tx1"/>
                </a:solidFill>
              </a:rPr>
              <a:t>of the</a:t>
            </a:r>
            <a:r>
              <a:rPr lang="en-US" sz="2500" dirty="0">
                <a:solidFill>
                  <a:schemeClr val="tx1"/>
                </a:solidFill>
              </a:rPr>
              <a:t> </a:t>
            </a:r>
            <a:r>
              <a:rPr lang="ha-Latn-NG" sz="2500" dirty="0">
                <a:solidFill>
                  <a:schemeClr val="tx1"/>
                </a:solidFill>
              </a:rPr>
              <a:t>time</a:t>
            </a:r>
            <a:r>
              <a:rPr lang="en-US" sz="2500" dirty="0">
                <a:solidFill>
                  <a:schemeClr val="tx1"/>
                </a:solidFill>
              </a:rPr>
              <a:t> </a:t>
            </a:r>
            <a:r>
              <a:rPr lang="ha-Latn-NG" sz="2500" dirty="0">
                <a:solidFill>
                  <a:schemeClr val="tx1"/>
                </a:solidFill>
              </a:rPr>
              <a:t>and</a:t>
            </a:r>
            <a:r>
              <a:rPr lang="en-US" sz="2500" dirty="0">
                <a:solidFill>
                  <a:schemeClr val="tx1"/>
                </a:solidFill>
              </a:rPr>
              <a:t> </a:t>
            </a:r>
            <a:r>
              <a:rPr lang="ha-Latn-NG" sz="2500" dirty="0">
                <a:solidFill>
                  <a:schemeClr val="tx1"/>
                </a:solidFill>
              </a:rPr>
              <a:t>minimize</a:t>
            </a:r>
            <a:r>
              <a:rPr lang="en-US" sz="2500" dirty="0">
                <a:solidFill>
                  <a:schemeClr val="tx1"/>
                </a:solidFill>
              </a:rPr>
              <a:t> </a:t>
            </a:r>
            <a:r>
              <a:rPr lang="ha-Latn-NG" sz="2500" dirty="0">
                <a:solidFill>
                  <a:schemeClr val="tx1"/>
                </a:solidFill>
              </a:rPr>
              <a:t>the chance</a:t>
            </a:r>
            <a:r>
              <a:rPr lang="en-US" sz="2500" dirty="0">
                <a:solidFill>
                  <a:schemeClr val="tx1"/>
                </a:solidFill>
              </a:rPr>
              <a:t> </a:t>
            </a:r>
            <a:r>
              <a:rPr lang="ha-Latn-NG" sz="2500" dirty="0">
                <a:solidFill>
                  <a:schemeClr val="tx1"/>
                </a:solidFill>
              </a:rPr>
              <a:t>of</a:t>
            </a:r>
            <a:r>
              <a:rPr lang="en-US" sz="2500" dirty="0">
                <a:solidFill>
                  <a:schemeClr val="tx1"/>
                </a:solidFill>
              </a:rPr>
              <a:t> </a:t>
            </a:r>
            <a:r>
              <a:rPr lang="ha-Latn-NG" sz="2500" dirty="0">
                <a:solidFill>
                  <a:schemeClr val="tx1"/>
                </a:solidFill>
              </a:rPr>
              <a:t>showing</a:t>
            </a:r>
            <a:r>
              <a:rPr lang="en-US" sz="2500" dirty="0">
                <a:solidFill>
                  <a:schemeClr val="tx1"/>
                </a:solidFill>
              </a:rPr>
              <a:t> </a:t>
            </a:r>
            <a:r>
              <a:rPr lang="ha-Latn-NG" sz="2500" dirty="0">
                <a:solidFill>
                  <a:schemeClr val="tx1"/>
                </a:solidFill>
              </a:rPr>
              <a:t>unpopular</a:t>
            </a:r>
            <a:r>
              <a:rPr lang="en-US" sz="2500" dirty="0">
                <a:solidFill>
                  <a:schemeClr val="tx1"/>
                </a:solidFill>
              </a:rPr>
              <a:t> </a:t>
            </a:r>
            <a:r>
              <a:rPr lang="ha-Latn-NG" sz="2500" dirty="0">
                <a:solidFill>
                  <a:schemeClr val="tx1"/>
                </a:solidFill>
              </a:rPr>
              <a:t>recipes.</a:t>
            </a:r>
            <a:endParaRPr lang="en-US" sz="2500" dirty="0">
              <a:solidFill>
                <a:schemeClr val="tx1"/>
              </a:solidFill>
            </a:endParaRPr>
          </a:p>
          <a:p>
            <a:r>
              <a:rPr lang="en-US" sz="2500" b="1" dirty="0">
                <a:solidFill>
                  <a:schemeClr val="tx1"/>
                </a:solidFill>
              </a:rPr>
              <a:t>Key Tasks:</a:t>
            </a:r>
            <a:r>
              <a:rPr lang="en-US" sz="2500" dirty="0">
                <a:solidFill>
                  <a:schemeClr val="tx1"/>
                </a:solidFill>
              </a:rPr>
              <a:t> Perform rigorous data validation and cleaning.</a:t>
            </a:r>
          </a:p>
          <a:p>
            <a:pPr lvl="1"/>
            <a:r>
              <a:rPr lang="en-US" sz="2500" dirty="0">
                <a:solidFill>
                  <a:schemeClr val="tx1"/>
                </a:solidFill>
              </a:rPr>
              <a:t>Execute exploratory data analysis (EDA) to find traffic drivers.</a:t>
            </a:r>
          </a:p>
          <a:p>
            <a:pPr lvl="1"/>
            <a:r>
              <a:rPr lang="en-US" sz="2500" dirty="0">
                <a:solidFill>
                  <a:schemeClr val="tx1"/>
                </a:solidFill>
              </a:rPr>
              <a:t>Develop and compare machine learning models to predict traffic.</a:t>
            </a:r>
          </a:p>
          <a:p>
            <a:pPr lvl="1"/>
            <a:r>
              <a:rPr lang="en-US" sz="2500" dirty="0">
                <a:solidFill>
                  <a:schemeClr val="tx1"/>
                </a:solidFill>
              </a:rPr>
              <a:t>Provide actionable business recommendations</a:t>
            </a:r>
            <a:r>
              <a:rPr lang="en-US" sz="2300" dirty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631380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02765-897F-4D82-529C-68F856E74C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0714" y="141514"/>
            <a:ext cx="9729979" cy="1578429"/>
          </a:xfrm>
        </p:spPr>
        <p:txBody>
          <a:bodyPr vert="horz" lIns="0" tIns="0" rIns="0" bIns="0" rtlCol="0" anchor="b" anchorCtr="0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2400" b="1" dirty="0"/>
              <a:t>Data Validation &amp; Cleaning</a:t>
            </a:r>
            <a:br>
              <a:rPr lang="en-US" sz="2400" b="1" dirty="0"/>
            </a:br>
            <a:br>
              <a:rPr lang="en-US" sz="2400" b="1" dirty="0"/>
            </a:br>
            <a:br>
              <a:rPr lang="en-US" sz="2400" b="1" dirty="0"/>
            </a:br>
            <a:endParaRPr lang="en-US" sz="24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A6C012-0D98-23ED-6897-2560BDDF5D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7571" y="947057"/>
            <a:ext cx="9307286" cy="5421086"/>
          </a:xfrm>
        </p:spPr>
        <p:txBody>
          <a:bodyPr vert="horz" lIns="0" tIns="0" rIns="0" bIns="0" rtlCol="0" anchor="t" anchorCtr="0">
            <a:normAutofit fontScale="92500" lnSpcReduction="10000"/>
          </a:bodyPr>
          <a:lstStyle/>
          <a:p>
            <a:pPr algn="just"/>
            <a:r>
              <a:rPr lang="en-US" sz="2000" b="1" dirty="0">
                <a:solidFill>
                  <a:schemeClr val="tx1"/>
                </a:solidFill>
                <a:latin typeface="Trebuchet MS (Body)"/>
              </a:rPr>
              <a:t>Data Health:</a:t>
            </a:r>
            <a:r>
              <a:rPr lang="en-US" sz="2000" dirty="0">
                <a:solidFill>
                  <a:schemeClr val="tx1"/>
                </a:solidFill>
                <a:latin typeface="Trebuchet MS (Body)"/>
              </a:rPr>
              <a:t> 947 recipes reviewed.</a:t>
            </a:r>
          </a:p>
          <a:p>
            <a:pPr algn="just"/>
            <a:r>
              <a:rPr lang="en-US" sz="2000" b="1" dirty="0">
                <a:solidFill>
                  <a:schemeClr val="tx1"/>
                </a:solidFill>
                <a:latin typeface="Trebuchet MS (Body)"/>
              </a:rPr>
              <a:t>Cleaning Actions:</a:t>
            </a:r>
            <a:endParaRPr lang="en-US" sz="2000" dirty="0">
              <a:solidFill>
                <a:schemeClr val="tx1"/>
              </a:solidFill>
              <a:latin typeface="Trebuchet MS (Body)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tx1"/>
                </a:solidFill>
                <a:latin typeface="Trebuchet MS (Body)"/>
              </a:rPr>
              <a:t>Nutrients:</a:t>
            </a:r>
            <a:r>
              <a:rPr lang="en-US" sz="2000" dirty="0">
                <a:solidFill>
                  <a:schemeClr val="tx1"/>
                </a:solidFill>
                <a:latin typeface="Trebuchet MS (Body)"/>
              </a:rPr>
              <a:t> Imputed 52 missing values in Calories, Protein, Sugar, and Carbs using median values.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tx1"/>
                </a:solidFill>
                <a:latin typeface="Trebuchet MS (Body)"/>
              </a:rPr>
              <a:t>Categories:</a:t>
            </a:r>
            <a:r>
              <a:rPr lang="en-US" sz="2000" dirty="0">
                <a:solidFill>
                  <a:schemeClr val="tx1"/>
                </a:solidFill>
                <a:latin typeface="Trebuchet MS (Body)"/>
              </a:rPr>
              <a:t> Consolidated "Chicken Breast" into "Chicken" for a cleaner model input.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tx1"/>
                </a:solidFill>
                <a:latin typeface="Trebuchet MS (Body)"/>
              </a:rPr>
              <a:t>Servings:</a:t>
            </a:r>
            <a:r>
              <a:rPr lang="en-US" sz="2000" dirty="0">
                <a:solidFill>
                  <a:schemeClr val="tx1"/>
                </a:solidFill>
                <a:latin typeface="Trebuchet MS (Body)"/>
              </a:rPr>
              <a:t> Cleaned text noise to ensure numeric consistency.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tx1"/>
                </a:solidFill>
                <a:latin typeface="Trebuchet MS (Body)"/>
              </a:rPr>
              <a:t>Target:</a:t>
            </a:r>
            <a:r>
              <a:rPr lang="en-US" sz="2000" dirty="0">
                <a:solidFill>
                  <a:schemeClr val="tx1"/>
                </a:solidFill>
                <a:latin typeface="Trebuchet MS (Body)"/>
              </a:rPr>
              <a:t> Converted "High Traffic" into a binary classification target (1 = High, 0 = Low).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ha-Latn-NG" altLang="ha-Latn-NG" sz="2000" b="1" dirty="0">
                <a:solidFill>
                  <a:schemeClr val="tx1"/>
                </a:solidFill>
                <a:latin typeface="Trebuchet MS (Body)"/>
              </a:rPr>
              <a:t>Refining Categorical Data:</a:t>
            </a:r>
            <a:endParaRPr lang="en-US" altLang="ha-Latn-NG" sz="2000" b="1" dirty="0">
              <a:solidFill>
                <a:schemeClr val="tx1"/>
              </a:solidFill>
              <a:latin typeface="Trebuchet MS (Body)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ha-Latn-NG" altLang="ha-Latn-NG" sz="2000" b="1" dirty="0">
                <a:solidFill>
                  <a:schemeClr val="tx1"/>
                </a:solidFill>
                <a:latin typeface="Trebuchet MS (Body)"/>
              </a:rPr>
              <a:t>Servings:</a:t>
            </a:r>
            <a:r>
              <a:rPr lang="ha-Latn-NG" altLang="ha-Latn-NG" sz="2000" dirty="0">
                <a:solidFill>
                  <a:schemeClr val="tx1"/>
                </a:solidFill>
                <a:latin typeface="Trebuchet MS (Body)"/>
              </a:rPr>
              <a:t> Cleaned "as a snack" text and converted to integer.</a:t>
            </a:r>
            <a:endParaRPr lang="en-US" altLang="ha-Latn-NG" sz="2000" dirty="0">
              <a:solidFill>
                <a:schemeClr val="tx1"/>
              </a:solidFill>
              <a:latin typeface="Trebuchet MS (Body)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ha-Latn-NG" altLang="ha-Latn-NG" sz="2000" b="1" dirty="0">
                <a:solidFill>
                  <a:schemeClr val="tx1"/>
                </a:solidFill>
                <a:latin typeface="Trebuchet MS (Body)"/>
              </a:rPr>
              <a:t>Category:</a:t>
            </a:r>
            <a:r>
              <a:rPr lang="ha-Latn-NG" altLang="ha-Latn-NG" sz="2000" dirty="0">
                <a:solidFill>
                  <a:schemeClr val="tx1"/>
                </a:solidFill>
                <a:latin typeface="Trebuchet MS (Body)"/>
              </a:rPr>
              <a:t> Consolidated "Chicken Breast" into the "Chicken" category for consistency.</a:t>
            </a:r>
            <a:endParaRPr lang="en-US" altLang="ha-Latn-NG" sz="2000" dirty="0">
              <a:solidFill>
                <a:schemeClr val="tx1"/>
              </a:solidFill>
              <a:latin typeface="Trebuchet MS (Body)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ha-Latn-NG" altLang="ha-Latn-NG" sz="2000" b="1" dirty="0">
                <a:solidFill>
                  <a:schemeClr val="tx1"/>
                </a:solidFill>
                <a:latin typeface="Trebuchet MS (Body)"/>
              </a:rPr>
              <a:t>Target Variable:</a:t>
            </a:r>
            <a:r>
              <a:rPr lang="ha-Latn-NG" altLang="ha-Latn-NG" sz="2000" dirty="0">
                <a:solidFill>
                  <a:schemeClr val="tx1"/>
                </a:solidFill>
                <a:latin typeface="Trebuchet MS (Body)"/>
              </a:rPr>
              <a:t> The high_traffic column was converted to binary (1 for High, 0 for Low/NaN).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300" dirty="0">
              <a:latin typeface="Trebuchet MS (Body)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300" dirty="0">
              <a:latin typeface="Trebuchet MS (Body)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300" dirty="0">
              <a:latin typeface="Trebuchet MS (Body)"/>
            </a:endParaRPr>
          </a:p>
        </p:txBody>
      </p:sp>
    </p:spTree>
    <p:extLst>
      <p:ext uri="{BB962C8B-B14F-4D97-AF65-F5344CB8AC3E}">
        <p14:creationId xmlns:p14="http://schemas.microsoft.com/office/powerpoint/2010/main" val="10610972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962EB-9253-9761-3EB0-31EF6AEDF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000" y="540033"/>
            <a:ext cx="4426782" cy="1331604"/>
          </a:xfrm>
        </p:spPr>
        <p:txBody>
          <a:bodyPr anchor="b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2400" b="1"/>
              <a:t>Key Insights from Exploratory Analysis</a:t>
            </a:r>
            <a:br>
              <a:rPr lang="en-US" sz="2400" b="1"/>
            </a:br>
            <a:endParaRPr lang="ha-Latn-NG" sz="2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18A4AE-C3FF-6454-0672-C7EEC4E569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657" y="1676400"/>
            <a:ext cx="5127217" cy="4092576"/>
          </a:xfrm>
        </p:spPr>
        <p:txBody>
          <a:bodyPr>
            <a:normAutofit/>
          </a:bodyPr>
          <a:lstStyle/>
          <a:p>
            <a:pPr>
              <a:lnSpc>
                <a:spcPct val="115000"/>
              </a:lnSpc>
            </a:pPr>
            <a:r>
              <a:rPr lang="en-US" b="1" dirty="0"/>
              <a:t>Category is King:</a:t>
            </a:r>
            <a:r>
              <a:rPr lang="en-US" dirty="0"/>
              <a:t> Recipe category is the strongest predictor of traffic. "Vegetable" and "Potato" have the highest probability of being popular.</a:t>
            </a:r>
          </a:p>
          <a:p>
            <a:pPr>
              <a:lnSpc>
                <a:spcPct val="115000"/>
              </a:lnSpc>
            </a:pPr>
            <a:r>
              <a:rPr lang="en-US" b="1" dirty="0"/>
              <a:t>Nutritional Nuance:</a:t>
            </a:r>
            <a:r>
              <a:rPr lang="en-US" dirty="0"/>
              <a:t> High-calorie recipes do not guarantee high traffic; user preference is driven by meal type rather than just nutrient density.</a:t>
            </a:r>
          </a:p>
          <a:p>
            <a:pPr>
              <a:lnSpc>
                <a:spcPct val="115000"/>
              </a:lnSpc>
            </a:pPr>
            <a:r>
              <a:rPr lang="en-US" b="1" dirty="0"/>
              <a:t>Beverage Warning:</a:t>
            </a:r>
            <a:r>
              <a:rPr lang="en-US" dirty="0"/>
              <a:t> The "Beverages" category consistently underperforms in traffic regardless of nutritional content.</a:t>
            </a:r>
          </a:p>
          <a:p>
            <a:pPr>
              <a:lnSpc>
                <a:spcPct val="115000"/>
              </a:lnSpc>
            </a:pPr>
            <a:endParaRPr lang="ha-Latn-NG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1815FC-9D2A-5007-3A21-D0139F8D5B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6782" y="1045029"/>
            <a:ext cx="6271560" cy="4723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396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3B1E2-3F5A-8D39-D941-2D8569AF6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Model Development</a:t>
            </a:r>
            <a:br>
              <a:rPr lang="en-US" b="1" dirty="0"/>
            </a:br>
            <a:endParaRPr lang="ha-Latn-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46A27-BF86-C835-29CB-AE1D2679A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32857"/>
            <a:ext cx="8596668" cy="4408505"/>
          </a:xfrm>
        </p:spPr>
        <p:txBody>
          <a:bodyPr>
            <a:normAutofit/>
          </a:bodyPr>
          <a:lstStyle/>
          <a:p>
            <a:r>
              <a:rPr lang="ha-Latn-NG" sz="2500" b="1" dirty="0"/>
              <a:t>Problem Type:</a:t>
            </a:r>
            <a:r>
              <a:rPr lang="ha-Latn-NG" sz="2500" dirty="0"/>
              <a:t> Binary Classification.</a:t>
            </a:r>
          </a:p>
          <a:p>
            <a:r>
              <a:rPr lang="ha-Latn-NG" sz="2500" b="1" dirty="0"/>
              <a:t>Models Selected:</a:t>
            </a:r>
            <a:endParaRPr lang="ha-Latn-NG" sz="2500" dirty="0"/>
          </a:p>
          <a:p>
            <a:pPr lvl="1"/>
            <a:r>
              <a:rPr lang="ha-Latn-NG" sz="2500" b="1" dirty="0"/>
              <a:t>Baseline Model:</a:t>
            </a:r>
            <a:r>
              <a:rPr lang="ha-Latn-NG" sz="2500" dirty="0"/>
              <a:t> Logistic Regression (chosen for interpretability and speed).</a:t>
            </a:r>
          </a:p>
          <a:p>
            <a:pPr lvl="1"/>
            <a:r>
              <a:rPr lang="ha-Latn-NG" sz="2500" b="1" dirty="0"/>
              <a:t>Comparison Model:</a:t>
            </a:r>
            <a:r>
              <a:rPr lang="ha-Latn-NG" sz="2500" dirty="0"/>
              <a:t> Random Forest Classifier (chosen to capture non-linear relationships and feature importance).</a:t>
            </a:r>
          </a:p>
          <a:p>
            <a:r>
              <a:rPr lang="ha-Latn-NG" sz="2500" b="1" dirty="0"/>
              <a:t>Features Used:</a:t>
            </a:r>
            <a:r>
              <a:rPr lang="ha-Latn-NG" sz="2500" dirty="0"/>
              <a:t> category, servings, and nutritional values (calories, carbohydrate, sugar, protein).</a:t>
            </a:r>
          </a:p>
          <a:p>
            <a:endParaRPr lang="ha-Latn-NG" dirty="0"/>
          </a:p>
        </p:txBody>
      </p:sp>
    </p:spTree>
    <p:extLst>
      <p:ext uri="{BB962C8B-B14F-4D97-AF65-F5344CB8AC3E}">
        <p14:creationId xmlns:p14="http://schemas.microsoft.com/office/powerpoint/2010/main" val="31790910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6A58C-B0FE-35FD-9877-EA40429B3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900" b="1" dirty="0"/>
              <a:t>Model Evaluation</a:t>
            </a:r>
            <a:br>
              <a:rPr lang="en-US" b="1" dirty="0"/>
            </a:br>
            <a:br>
              <a:rPr lang="en-US" b="1" dirty="0"/>
            </a:br>
            <a:endParaRPr lang="ha-Latn-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D57B92-507C-4992-4098-B9F3F31138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943" y="1567544"/>
            <a:ext cx="10529207" cy="4201432"/>
          </a:xfrm>
        </p:spPr>
        <p:txBody>
          <a:bodyPr/>
          <a:lstStyle/>
          <a:p>
            <a:r>
              <a:rPr lang="en-US" sz="2500" b="1" dirty="0"/>
              <a:t>Primary Metric:</a:t>
            </a:r>
            <a:r>
              <a:rPr lang="en-US" sz="2500" dirty="0"/>
              <a:t> Accuracy and Precision (to minimize "false positives" where low traffic recipes are predicted as high).</a:t>
            </a:r>
          </a:p>
          <a:p>
            <a:r>
              <a:rPr lang="en-US" sz="2500" b="1" dirty="0"/>
              <a:t>Performance:</a:t>
            </a:r>
            <a:endParaRPr lang="en-US" sz="2500" dirty="0"/>
          </a:p>
          <a:p>
            <a:pPr lvl="1"/>
            <a:r>
              <a:rPr lang="en-US" sz="2500" dirty="0"/>
              <a:t>The </a:t>
            </a:r>
            <a:r>
              <a:rPr lang="en-US" sz="2500" b="1" dirty="0"/>
              <a:t>Random Forest model</a:t>
            </a:r>
            <a:r>
              <a:rPr lang="en-US" sz="2500" dirty="0"/>
              <a:t> generally provided better robustness in handling categorical variations.</a:t>
            </a:r>
          </a:p>
          <a:p>
            <a:pPr lvl="1"/>
            <a:r>
              <a:rPr lang="en-US" sz="2500" dirty="0"/>
              <a:t>Both models were evaluated using a confusion matrix to visualize prediction errors.</a:t>
            </a:r>
          </a:p>
          <a:p>
            <a:r>
              <a:rPr lang="en-US" sz="2500" b="1" dirty="0"/>
              <a:t>Result:</a:t>
            </a:r>
            <a:r>
              <a:rPr lang="en-US" sz="2500" dirty="0"/>
              <a:t> The champion model achieved a reliable accuracy rate for predicting high-traffic content.</a:t>
            </a:r>
          </a:p>
          <a:p>
            <a:endParaRPr lang="ha-Latn-NG" dirty="0"/>
          </a:p>
        </p:txBody>
      </p:sp>
    </p:spTree>
    <p:extLst>
      <p:ext uri="{BB962C8B-B14F-4D97-AF65-F5344CB8AC3E}">
        <p14:creationId xmlns:p14="http://schemas.microsoft.com/office/powerpoint/2010/main" val="3844931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71336-D8F2-BA97-5608-245ABF819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Business Impact &amp; Metrics</a:t>
            </a:r>
            <a:br>
              <a:rPr lang="en-US" b="1" dirty="0"/>
            </a:br>
            <a:endParaRPr lang="ha-Latn-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1BBDFA-3262-9712-9AB5-1D2EE883CE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45771"/>
            <a:ext cx="8596668" cy="4495591"/>
          </a:xfrm>
        </p:spPr>
        <p:txBody>
          <a:bodyPr>
            <a:normAutofit/>
          </a:bodyPr>
          <a:lstStyle/>
          <a:p>
            <a:r>
              <a:rPr lang="en-US" sz="2500" b="1" dirty="0"/>
              <a:t>Business Metric:</a:t>
            </a:r>
            <a:r>
              <a:rPr lang="en-US" sz="2500" dirty="0"/>
              <a:t> The percentage of "High Traffic" recipes featured on the homepage.</a:t>
            </a:r>
          </a:p>
          <a:p>
            <a:r>
              <a:rPr lang="en-US" sz="2500" b="1" dirty="0"/>
              <a:t>Current Baseline:</a:t>
            </a:r>
            <a:r>
              <a:rPr lang="en-US" sz="2500" dirty="0"/>
              <a:t> 60.6% of recipes are high traffic by default.</a:t>
            </a:r>
          </a:p>
          <a:p>
            <a:r>
              <a:rPr lang="en-US" sz="2500" b="1" dirty="0"/>
              <a:t>Predicted Improvement:</a:t>
            </a:r>
            <a:r>
              <a:rPr lang="en-US" sz="2500" dirty="0"/>
              <a:t> By using the model to select recipes, the business can increase the probability of featuring high-traffic content to over 80%, reducing the risk of low-engagement days.</a:t>
            </a:r>
          </a:p>
          <a:p>
            <a:r>
              <a:rPr lang="en-US" sz="2500" b="1" dirty="0"/>
              <a:t>Operational Integration:</a:t>
            </a:r>
            <a:r>
              <a:rPr lang="en-US" sz="2500" dirty="0"/>
              <a:t> Use the model as a "Pre-Publishing Filter" for the editorial team.</a:t>
            </a:r>
          </a:p>
          <a:p>
            <a:endParaRPr lang="ha-Latn-NG" dirty="0"/>
          </a:p>
        </p:txBody>
      </p:sp>
    </p:spTree>
    <p:extLst>
      <p:ext uri="{BB962C8B-B14F-4D97-AF65-F5344CB8AC3E}">
        <p14:creationId xmlns:p14="http://schemas.microsoft.com/office/powerpoint/2010/main" val="31031598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89AA0-840F-EEF5-9A27-CE24E8FE1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Final Recommendations</a:t>
            </a:r>
            <a:br>
              <a:rPr lang="en-US" b="1" dirty="0"/>
            </a:br>
            <a:endParaRPr lang="ha-Latn-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88367-2C6A-4405-2542-3D6A51274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40971"/>
            <a:ext cx="8596668" cy="4800391"/>
          </a:xfrm>
        </p:spPr>
        <p:txBody>
          <a:bodyPr>
            <a:normAutofit lnSpcReduction="10000"/>
          </a:bodyPr>
          <a:lstStyle/>
          <a:p>
            <a:r>
              <a:rPr lang="en-US" sz="2400" b="1" dirty="0"/>
              <a:t>Promote Key Categories:</a:t>
            </a:r>
            <a:r>
              <a:rPr lang="en-US" sz="2400" dirty="0"/>
              <a:t> Focus on "Vegetable," "Potato," and "Pork" recipes for the homepage.</a:t>
            </a:r>
          </a:p>
          <a:p>
            <a:r>
              <a:rPr lang="en-US" sz="2400" b="1" dirty="0"/>
              <a:t>De-prioritize Beverages:</a:t>
            </a:r>
            <a:r>
              <a:rPr lang="en-US" sz="2400" dirty="0"/>
              <a:t> Avoid featuring beverages prominently on the main traffic-driving spots.</a:t>
            </a:r>
          </a:p>
          <a:p>
            <a:r>
              <a:rPr lang="en-US" sz="2400" b="1" dirty="0"/>
              <a:t>Continuous Learning:</a:t>
            </a:r>
            <a:r>
              <a:rPr lang="en-US" sz="2400" dirty="0"/>
              <a:t> Implement a feedback loop where actual traffic data from new recipes is used to retrain the model monthly.</a:t>
            </a:r>
          </a:p>
          <a:p>
            <a:r>
              <a:rPr lang="en-US" sz="2400" b="1" dirty="0"/>
              <a:t>Deployment:</a:t>
            </a:r>
            <a:r>
              <a:rPr lang="en-US" sz="2400" dirty="0"/>
              <a:t> Integrate the Logistic Regression model into the Content Management System (CMS) to provide real-time traffic "scores" to editors. However, if more datapoints are integrated Random Forest Algorithm might be the best option to integrate.</a:t>
            </a:r>
          </a:p>
          <a:p>
            <a:endParaRPr lang="ha-Latn-NG" dirty="0"/>
          </a:p>
        </p:txBody>
      </p:sp>
    </p:spTree>
    <p:extLst>
      <p:ext uri="{BB962C8B-B14F-4D97-AF65-F5344CB8AC3E}">
        <p14:creationId xmlns:p14="http://schemas.microsoft.com/office/powerpoint/2010/main" val="5390594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102</TotalTime>
  <Words>596</Words>
  <Application>Microsoft Office PowerPoint</Application>
  <PresentationFormat>Widescreen</PresentationFormat>
  <Paragraphs>45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Trebuchet MS</vt:lpstr>
      <vt:lpstr>Trebuchet MS (Body)</vt:lpstr>
      <vt:lpstr>Wingdings</vt:lpstr>
      <vt:lpstr>Wingdings 3</vt:lpstr>
      <vt:lpstr>Facet</vt:lpstr>
      <vt:lpstr>PowerPoint Presentation</vt:lpstr>
      <vt:lpstr>Data Validation &amp; Cleaning   </vt:lpstr>
      <vt:lpstr>Key Insights from Exploratory Analysis </vt:lpstr>
      <vt:lpstr>Model Development </vt:lpstr>
      <vt:lpstr>Model Evaluation  </vt:lpstr>
      <vt:lpstr>Business Impact &amp; Metrics </vt:lpstr>
      <vt:lpstr>Final Recommendations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shamsuddeen yusuf</dc:creator>
  <cp:lastModifiedBy>shamsuddeen yusuf</cp:lastModifiedBy>
  <cp:revision>2</cp:revision>
  <dcterms:created xsi:type="dcterms:W3CDTF">2026-02-13T09:23:18Z</dcterms:created>
  <dcterms:modified xsi:type="dcterms:W3CDTF">2026-02-13T11:06:13Z</dcterms:modified>
</cp:coreProperties>
</file>